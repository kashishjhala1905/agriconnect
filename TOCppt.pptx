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7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53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3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4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20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2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9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577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49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265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68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513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3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3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96950E3-6D22-46A0-8E9A-FCD6ECF4F67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E4DDFB9-8FBC-43F6-A0C3-1E8C737B4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407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E6FE-F486-913F-B09F-88F4EFF24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2689"/>
            <a:ext cx="9144000" cy="96926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Introduction to Formal Definition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00255-BE77-C7AA-903A-9A8F543BD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6544"/>
            <a:ext cx="9144000" cy="42976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</a:t>
            </a:r>
            <a:r>
              <a:rPr lang="en-US" b="1" dirty="0"/>
              <a:t>Theory of Computation</a:t>
            </a:r>
            <a:r>
              <a:rPr lang="en-US" dirty="0"/>
              <a:t>, a </a:t>
            </a:r>
            <a:r>
              <a:rPr lang="en-US" i="1" dirty="0"/>
              <a:t>formal definition</a:t>
            </a:r>
            <a:r>
              <a:rPr lang="en-US" dirty="0"/>
              <a:t> provides a </a:t>
            </a:r>
            <a:r>
              <a:rPr lang="en-US" b="1" dirty="0"/>
              <a:t>precise mathematical description</a:t>
            </a:r>
            <a:r>
              <a:rPr lang="en-US" dirty="0"/>
              <a:t> of computational models.</a:t>
            </a:r>
          </a:p>
          <a:p>
            <a:r>
              <a:rPr lang="en-US" dirty="0"/>
              <a:t>It removes </a:t>
            </a:r>
            <a:r>
              <a:rPr lang="en-US" b="1" dirty="0"/>
              <a:t>ambiguity</a:t>
            </a:r>
            <a:r>
              <a:rPr lang="en-US" dirty="0"/>
              <a:t> and ensures </a:t>
            </a:r>
            <a:r>
              <a:rPr lang="en-US" b="1" dirty="0"/>
              <a:t>clarity and correctness</a:t>
            </a:r>
            <a:r>
              <a:rPr lang="en-US" dirty="0"/>
              <a:t>.</a:t>
            </a:r>
          </a:p>
          <a:p>
            <a:r>
              <a:rPr lang="en-US" dirty="0"/>
              <a:t>Formal definitions help us:</a:t>
            </a:r>
          </a:p>
          <a:p>
            <a:pPr lvl="1"/>
            <a:r>
              <a:rPr lang="en-US" dirty="0"/>
              <a:t>Analyze computational power</a:t>
            </a:r>
          </a:p>
          <a:p>
            <a:pPr lvl="1"/>
            <a:r>
              <a:rPr lang="en-US" dirty="0"/>
              <a:t>Prove properties rigorously</a:t>
            </a:r>
          </a:p>
          <a:p>
            <a:pPr lvl="1"/>
            <a:r>
              <a:rPr lang="en-US" dirty="0"/>
              <a:t>Compare different models of computation</a:t>
            </a:r>
          </a:p>
          <a:p>
            <a:r>
              <a:rPr lang="en-US" dirty="0"/>
              <a:t>Examples of formally defined models:</a:t>
            </a:r>
          </a:p>
          <a:p>
            <a:pPr lvl="1"/>
            <a:r>
              <a:rPr lang="en-US" dirty="0"/>
              <a:t>Finite Automata</a:t>
            </a:r>
          </a:p>
          <a:p>
            <a:pPr lvl="1"/>
            <a:r>
              <a:rPr lang="en-US" dirty="0"/>
              <a:t>Pushdown Automata</a:t>
            </a:r>
          </a:p>
          <a:p>
            <a:pPr lvl="1"/>
            <a:r>
              <a:rPr lang="en-US" dirty="0"/>
              <a:t>Turing Machines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38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A5F4-2AB3-3679-1290-CCA05CE2D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361365"/>
            <a:ext cx="9440034" cy="781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Formal Definition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6E50B-6325-5716-3941-DC40C7763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463040"/>
            <a:ext cx="9440034" cy="461771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formal definition</a:t>
            </a:r>
            <a:r>
              <a:rPr lang="en-US" dirty="0"/>
              <a:t> specifies a system using:</a:t>
            </a:r>
          </a:p>
          <a:p>
            <a:pPr lvl="1"/>
            <a:r>
              <a:rPr lang="en-US" dirty="0"/>
              <a:t>Well-defined symbols</a:t>
            </a:r>
          </a:p>
          <a:p>
            <a:pPr lvl="1"/>
            <a:r>
              <a:rPr lang="en-US" dirty="0"/>
              <a:t>Mathematical notation</a:t>
            </a:r>
          </a:p>
          <a:p>
            <a:pPr lvl="1"/>
            <a:r>
              <a:rPr lang="en-US" dirty="0"/>
              <a:t>Ordered components</a:t>
            </a:r>
          </a:p>
          <a:p>
            <a:r>
              <a:rPr lang="en-US" dirty="0"/>
              <a:t>It clearly states:</a:t>
            </a:r>
          </a:p>
          <a:p>
            <a:pPr lvl="1"/>
            <a:r>
              <a:rPr lang="en-US" dirty="0"/>
              <a:t>What the model consists of</a:t>
            </a:r>
          </a:p>
          <a:p>
            <a:pPr lvl="1"/>
            <a:r>
              <a:rPr lang="en-US" dirty="0"/>
              <a:t>How it operates</a:t>
            </a:r>
          </a:p>
          <a:p>
            <a:pPr lvl="1"/>
            <a:r>
              <a:rPr lang="en-US" dirty="0"/>
              <a:t>What it can and cannot compute</a:t>
            </a:r>
          </a:p>
          <a:p>
            <a:r>
              <a:rPr lang="en-US" dirty="0"/>
              <a:t>In TOC, models are usually defined as a </a:t>
            </a:r>
            <a:r>
              <a:rPr lang="en-US" b="1" dirty="0"/>
              <a:t>tuple of elements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04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5750-4EC8-71F3-CFC6-E49835F6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421" y="786385"/>
            <a:ext cx="9440034" cy="927940"/>
          </a:xfrm>
        </p:spPr>
        <p:txBody>
          <a:bodyPr>
            <a:normAutofit fontScale="90000"/>
          </a:bodyPr>
          <a:lstStyle/>
          <a:p>
            <a:r>
              <a:rPr lang="en-US" dirty="0"/>
              <a:t>Formal Definition of Finite Automaton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771B4-EB42-A62B-D8A7-5CA490BE7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847088"/>
            <a:ext cx="9440034" cy="4224527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Finite Automaton (FA)</a:t>
            </a:r>
            <a:r>
              <a:rPr lang="en-IN" dirty="0"/>
              <a:t> is formally defined as a </a:t>
            </a:r>
            <a:r>
              <a:rPr lang="en-IN" b="1" dirty="0"/>
              <a:t>5-tuple</a:t>
            </a:r>
            <a:r>
              <a:rPr lang="en-IN" dirty="0"/>
              <a:t>:</a:t>
            </a:r>
          </a:p>
          <a:p>
            <a:r>
              <a:rPr lang="en-IN" b="1" dirty="0"/>
              <a:t>M = (Q, </a:t>
            </a:r>
            <a:r>
              <a:rPr lang="el-GR" b="1" dirty="0"/>
              <a:t>Σ, δ, </a:t>
            </a:r>
            <a:r>
              <a:rPr lang="en-IN" b="1" dirty="0"/>
              <a:t>q₀, F)</a:t>
            </a:r>
            <a:endParaRPr lang="en-IN" dirty="0"/>
          </a:p>
          <a:p>
            <a:r>
              <a:rPr lang="en-IN" dirty="0"/>
              <a:t>Where:</a:t>
            </a:r>
          </a:p>
          <a:p>
            <a:r>
              <a:rPr lang="en-IN" b="1" dirty="0"/>
              <a:t>Q</a:t>
            </a:r>
            <a:r>
              <a:rPr lang="en-IN" dirty="0"/>
              <a:t> → Finite set of states</a:t>
            </a:r>
          </a:p>
          <a:p>
            <a:r>
              <a:rPr lang="el-GR" b="1" dirty="0"/>
              <a:t>Σ</a:t>
            </a:r>
            <a:r>
              <a:rPr lang="el-GR" dirty="0"/>
              <a:t> → </a:t>
            </a:r>
            <a:r>
              <a:rPr lang="en-IN" dirty="0"/>
              <a:t>Input alphabet</a:t>
            </a:r>
          </a:p>
          <a:p>
            <a:r>
              <a:rPr lang="el-GR" b="1" dirty="0"/>
              <a:t>δ</a:t>
            </a:r>
            <a:r>
              <a:rPr lang="el-GR" dirty="0"/>
              <a:t> → </a:t>
            </a:r>
            <a:r>
              <a:rPr lang="en-IN" dirty="0"/>
              <a:t>Transition function</a:t>
            </a:r>
          </a:p>
          <a:p>
            <a:r>
              <a:rPr lang="en-IN" b="1" dirty="0"/>
              <a:t>q₀</a:t>
            </a:r>
            <a:r>
              <a:rPr lang="en-IN" dirty="0"/>
              <a:t> → Initial state</a:t>
            </a:r>
          </a:p>
          <a:p>
            <a:r>
              <a:rPr lang="en-IN" b="1" dirty="0"/>
              <a:t>F</a:t>
            </a:r>
            <a:r>
              <a:rPr lang="en-IN" dirty="0"/>
              <a:t> → Set of final (accepting) states</a:t>
            </a:r>
          </a:p>
          <a:p>
            <a:r>
              <a:rPr lang="en-IN" dirty="0"/>
              <a:t>This definition precisely explains how an FA processes input strings.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46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55EC-9DD3-013A-E1A7-830F80098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370509"/>
            <a:ext cx="9440034" cy="790780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Importance of Formal Definition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181BE-C957-427C-F634-40F2BA745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399032"/>
            <a:ext cx="9440034" cy="4517135"/>
          </a:xfrm>
        </p:spPr>
        <p:txBody>
          <a:bodyPr>
            <a:normAutofit/>
          </a:bodyPr>
          <a:lstStyle/>
          <a:p>
            <a:r>
              <a:rPr lang="en-IN" dirty="0"/>
              <a:t>Enables </a:t>
            </a:r>
            <a:r>
              <a:rPr lang="en-IN" b="1" dirty="0"/>
              <a:t>mathematical proofs</a:t>
            </a:r>
            <a:r>
              <a:rPr lang="en-IN" dirty="0"/>
              <a:t> of language acceptance</a:t>
            </a:r>
          </a:p>
          <a:p>
            <a:r>
              <a:rPr lang="en-IN" dirty="0"/>
              <a:t>Helps classify problems as:</a:t>
            </a:r>
          </a:p>
          <a:p>
            <a:pPr lvl="1"/>
            <a:r>
              <a:rPr lang="en-IN" dirty="0"/>
              <a:t>Decidable</a:t>
            </a:r>
          </a:p>
          <a:p>
            <a:pPr lvl="1"/>
            <a:r>
              <a:rPr lang="en-IN" dirty="0"/>
              <a:t>Undecidable</a:t>
            </a:r>
          </a:p>
          <a:p>
            <a:r>
              <a:rPr lang="en-IN" dirty="0"/>
              <a:t>Makes it easier to:</a:t>
            </a:r>
          </a:p>
          <a:p>
            <a:pPr lvl="1"/>
            <a:r>
              <a:rPr lang="en-IN" dirty="0"/>
              <a:t>Design algorithms</a:t>
            </a:r>
          </a:p>
          <a:p>
            <a:pPr lvl="1"/>
            <a:r>
              <a:rPr lang="en-IN" dirty="0"/>
              <a:t>Compare computational models</a:t>
            </a:r>
          </a:p>
          <a:p>
            <a:r>
              <a:rPr lang="en-IN" dirty="0"/>
              <a:t>Essential for understanding:</a:t>
            </a:r>
          </a:p>
          <a:p>
            <a:pPr lvl="1"/>
            <a:r>
              <a:rPr lang="en-IN" dirty="0"/>
              <a:t>Complexity theory</a:t>
            </a:r>
          </a:p>
          <a:p>
            <a:pPr lvl="1"/>
            <a:r>
              <a:rPr lang="en-IN" dirty="0"/>
              <a:t>Language hierarchy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3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7C6B-131C-45B5-0556-95D8CEFFA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489381"/>
            <a:ext cx="9440034" cy="982804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FAF87-3882-5C7F-EA91-2E389B291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746504"/>
            <a:ext cx="9440034" cy="4453127"/>
          </a:xfrm>
        </p:spPr>
        <p:txBody>
          <a:bodyPr/>
          <a:lstStyle/>
          <a:p>
            <a:r>
              <a:rPr lang="en-US" dirty="0"/>
              <a:t>Formal definitions are the </a:t>
            </a:r>
            <a:r>
              <a:rPr lang="en-US" b="1" dirty="0"/>
              <a:t>foundation of Theory of Computation</a:t>
            </a:r>
            <a:r>
              <a:rPr lang="en-US" dirty="0"/>
              <a:t>.</a:t>
            </a:r>
          </a:p>
          <a:p>
            <a:r>
              <a:rPr lang="en-US" dirty="0"/>
              <a:t>They ensure:</a:t>
            </a:r>
          </a:p>
          <a:p>
            <a:pPr lvl="1"/>
            <a:r>
              <a:rPr lang="en-US" dirty="0"/>
              <a:t>Precision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Logical reasoning</a:t>
            </a:r>
          </a:p>
          <a:p>
            <a:r>
              <a:rPr lang="en-US" dirty="0"/>
              <a:t>Without formal definitions, analyzing computational systems would be </a:t>
            </a:r>
            <a:r>
              <a:rPr lang="en-US" b="1" dirty="0"/>
              <a:t>unclear and unreliable</a:t>
            </a:r>
            <a:r>
              <a:rPr lang="en-US" dirty="0"/>
              <a:t>.</a:t>
            </a:r>
          </a:p>
          <a:p>
            <a:r>
              <a:rPr lang="en-US" dirty="0"/>
              <a:t>Every computational model in TOC is built using </a:t>
            </a:r>
            <a:r>
              <a:rPr lang="en-US" b="1" dirty="0"/>
              <a:t>formal mathematical definitions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937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7</TotalTime>
  <Words>259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 Introduction to Formal Definition</vt:lpstr>
      <vt:lpstr>What is Formal Definition</vt:lpstr>
      <vt:lpstr>Formal Definition of Finite Automaton</vt:lpstr>
      <vt:lpstr>Importance of Formal Definition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Kashish jhala</dc:creator>
  <cp:lastModifiedBy>Kashish jhala</cp:lastModifiedBy>
  <cp:revision>1</cp:revision>
  <dcterms:created xsi:type="dcterms:W3CDTF">2025-12-26T03:10:08Z</dcterms:created>
  <dcterms:modified xsi:type="dcterms:W3CDTF">2025-12-26T03:17:18Z</dcterms:modified>
</cp:coreProperties>
</file>